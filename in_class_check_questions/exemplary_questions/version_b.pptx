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Week 4 Quiz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CMCE 10002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Semester 1, 2026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7517975" y="4354450"/>
            <a:ext cx="16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869425" y="4135250"/>
            <a:ext cx="692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1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0">
                <a:solidFill>
                  <a:schemeClr val="dk1"/>
                </a:solidFill>
              </a:rPr>
              <a:t>A student says: “This code will show one bar for each exact property price in the dataset.”</a:t>
            </a:r>
            <a:endParaRPr sz="7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</a:t>
            </a:r>
            <a:endParaRPr sz="7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aes(x = price)</a:t>
            </a:r>
            <a:endParaRPr sz="7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+</a:t>
            </a:r>
            <a:endParaRPr sz="7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geom_histogram(bins = 40)</a:t>
            </a:r>
            <a:endParaRPr sz="7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0">
                <a:solidFill>
                  <a:schemeClr val="dk1"/>
                </a:solidFill>
              </a:rPr>
              <a:t>What is the best response?</a:t>
            </a:r>
            <a:endParaRPr sz="7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0">
                <a:solidFill>
                  <a:schemeClr val="dk1"/>
                </a:solidFill>
              </a:rPr>
              <a:t>A. Correct — histograms show one bar for each unique value.</a:t>
            </a:r>
            <a:br>
              <a:rPr lang="en" sz="7500">
                <a:solidFill>
                  <a:schemeClr val="dk1"/>
                </a:solidFill>
              </a:rPr>
            </a:br>
            <a:r>
              <a:rPr lang="en" sz="7500">
                <a:solidFill>
                  <a:schemeClr val="dk1"/>
                </a:solidFill>
              </a:rPr>
              <a:t>B. Correct — each bar represents one property sale.</a:t>
            </a:r>
            <a:br>
              <a:rPr lang="en" sz="7500">
                <a:solidFill>
                  <a:schemeClr val="dk1"/>
                </a:solidFill>
              </a:rPr>
            </a:br>
            <a:r>
              <a:rPr lang="en" sz="7500">
                <a:solidFill>
                  <a:schemeClr val="dk1"/>
                </a:solidFill>
              </a:rPr>
              <a:t>C. Incorrect — histograms group values into bins, so each bar represents a range of prices.</a:t>
            </a:r>
            <a:br>
              <a:rPr lang="en" sz="7500">
                <a:solidFill>
                  <a:schemeClr val="dk1"/>
                </a:solidFill>
              </a:rPr>
            </a:br>
            <a:r>
              <a:rPr lang="en" sz="7500">
                <a:solidFill>
                  <a:schemeClr val="dk1"/>
                </a:solidFill>
              </a:rPr>
              <a:t>D. Incorrect — this code will produce a scatterplot, not a histogram.</a:t>
            </a:r>
            <a:endParaRPr sz="7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64" name="Google Shape;64;p14" title="90 Second Countdown Timer / NO S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275" y="119875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2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 analyst wants to add a title and axis labels to a plot.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Which function should they use?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labs()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facet_wrap()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geom_point()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aes()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6845825" y="4266775"/>
            <a:ext cx="231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72" name="Google Shape;72;p15" title="90 Second Countdown Timer / NO S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3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Suppose you run the code below: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aes(x = distance, y = price)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) +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geom_point(alpha = 0.05)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is the main reason for using a small value of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alpha</a:t>
            </a:r>
            <a:r>
              <a:rPr lang="en">
                <a:solidFill>
                  <a:schemeClr val="dk1"/>
                </a:solidFill>
              </a:rPr>
              <a:t> in this plot?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A. To turn the points into categories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B. To make the x-axis easier to label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C. To reduce overplotting by making points more transparent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D. To add a fitted line to the data</a:t>
            </a:r>
            <a:endParaRPr sz="230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79" name="Google Shape;79;p16" title="90 Second Countdown Timer / NO S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4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55">
                <a:solidFill>
                  <a:schemeClr val="dk1"/>
                </a:solidFill>
              </a:rPr>
              <a:t>A student wants to compare the distribution of prices for different dwelling types. Which code is most appropriate?</a:t>
            </a:r>
            <a:endParaRPr sz="125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55">
                <a:solidFill>
                  <a:schemeClr val="dk1"/>
                </a:solidFill>
              </a:rPr>
              <a:t>A.</a:t>
            </a:r>
            <a:endParaRPr sz="125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55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aes(x = type, y = price)) +</a:t>
            </a:r>
            <a:endParaRPr sz="1255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55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geom_point()</a:t>
            </a:r>
            <a:endParaRPr sz="1255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55">
                <a:solidFill>
                  <a:schemeClr val="dk1"/>
                </a:solidFill>
              </a:rPr>
              <a:t>B.</a:t>
            </a:r>
            <a:endParaRPr sz="125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55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aes(x = price)) +</a:t>
            </a:r>
            <a:endParaRPr sz="1255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55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geom_histogram(bins = 50) +</a:t>
            </a:r>
            <a:endParaRPr sz="1255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55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facet_wrap(~ type)</a:t>
            </a:r>
            <a:endParaRPr sz="1255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55">
                <a:solidFill>
                  <a:schemeClr val="dk1"/>
                </a:solidFill>
              </a:rPr>
              <a:t>C.</a:t>
            </a:r>
            <a:endParaRPr sz="125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55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aes(x = regionname)) +</a:t>
            </a:r>
            <a:endParaRPr sz="1255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55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geom_bar()</a:t>
            </a:r>
            <a:endParaRPr sz="1255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55">
                <a:solidFill>
                  <a:schemeClr val="dk1"/>
                </a:solidFill>
              </a:rPr>
              <a:t>D.</a:t>
            </a:r>
            <a:endParaRPr sz="125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55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aes(x = distance, y = price)) +</a:t>
            </a:r>
            <a:endParaRPr sz="1255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55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geom_smooth(method = "lm", se = FALSE)</a:t>
            </a:r>
            <a:endParaRPr sz="1255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5"/>
              <a:buNone/>
            </a:pPr>
            <a:r>
              <a:t/>
            </a:r>
            <a:endParaRPr sz="76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86" name="Google Shape;86;p17" title="90 Second Countdown Timer / NO S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5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38">
                <a:solidFill>
                  <a:schemeClr val="dk1"/>
                </a:solidFill>
              </a:rPr>
              <a:t>Consider the code below:</a:t>
            </a:r>
            <a:endParaRPr sz="133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38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aes(x = distance, y = price)) +</a:t>
            </a:r>
            <a:endParaRPr sz="1338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38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geom_point(alpha = 0.05) +</a:t>
            </a:r>
            <a:endParaRPr sz="1338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38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geom_smooth(method = "lm", se = FALSE) +</a:t>
            </a:r>
            <a:endParaRPr sz="1338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38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	labs(</a:t>
            </a:r>
            <a:endParaRPr sz="1638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38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	     x = "Distance to CBD (km)",</a:t>
            </a:r>
            <a:endParaRPr sz="1338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38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	     y = "Price",</a:t>
            </a:r>
            <a:endParaRPr sz="1338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38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	     title = "Price vs Distance to the CBD"</a:t>
            </a:r>
            <a:endParaRPr sz="1338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38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	)</a:t>
            </a:r>
            <a:endParaRPr sz="1338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38">
                <a:solidFill>
                  <a:schemeClr val="dk1"/>
                </a:solidFill>
              </a:rPr>
              <a:t>Which of the following statements are correct? </a:t>
            </a:r>
            <a:r>
              <a:rPr b="1" lang="en" sz="1338">
                <a:solidFill>
                  <a:schemeClr val="dk1"/>
                </a:solidFill>
              </a:rPr>
              <a:t>Select all that apply.</a:t>
            </a:r>
            <a:endParaRPr b="1" sz="133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38">
                <a:solidFill>
                  <a:schemeClr val="dk1"/>
                </a:solidFill>
              </a:rPr>
              <a:t>A. </a:t>
            </a:r>
            <a:r>
              <a:rPr lang="en" sz="133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geom_point(alpha = 0.05)</a:t>
            </a:r>
            <a:r>
              <a:rPr lang="en" sz="1338">
                <a:solidFill>
                  <a:schemeClr val="dk1"/>
                </a:solidFill>
              </a:rPr>
              <a:t> adds points and makes them more transparent.</a:t>
            </a:r>
            <a:br>
              <a:rPr lang="en" sz="1338">
                <a:solidFill>
                  <a:schemeClr val="dk1"/>
                </a:solidFill>
              </a:rPr>
            </a:br>
            <a:r>
              <a:rPr lang="en" sz="1338">
                <a:solidFill>
                  <a:schemeClr val="dk1"/>
                </a:solidFill>
              </a:rPr>
              <a:t>B. </a:t>
            </a:r>
            <a:r>
              <a:rPr lang="en" sz="133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geom_smooth(method = "lm", se = FALSE)</a:t>
            </a:r>
            <a:r>
              <a:rPr lang="en" sz="1338">
                <a:solidFill>
                  <a:schemeClr val="dk1"/>
                </a:solidFill>
              </a:rPr>
              <a:t> adds a straight fitted line without a confidence band.</a:t>
            </a:r>
            <a:br>
              <a:rPr lang="en" sz="1338">
                <a:solidFill>
                  <a:schemeClr val="dk1"/>
                </a:solidFill>
              </a:rPr>
            </a:br>
            <a:r>
              <a:rPr lang="en" sz="1338">
                <a:solidFill>
                  <a:schemeClr val="dk1"/>
                </a:solidFill>
              </a:rPr>
              <a:t>C. </a:t>
            </a:r>
            <a:r>
              <a:rPr lang="en" sz="133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labs(...)</a:t>
            </a:r>
            <a:r>
              <a:rPr lang="en" sz="1338">
                <a:solidFill>
                  <a:schemeClr val="dk1"/>
                </a:solidFill>
              </a:rPr>
              <a:t> changes the variable names stored in the dataset.</a:t>
            </a:r>
            <a:br>
              <a:rPr lang="en" sz="1338">
                <a:solidFill>
                  <a:schemeClr val="dk1"/>
                </a:solidFill>
              </a:rPr>
            </a:br>
            <a:r>
              <a:rPr lang="en" sz="1338">
                <a:solidFill>
                  <a:schemeClr val="dk1"/>
                </a:solidFill>
              </a:rPr>
              <a:t>D. </a:t>
            </a:r>
            <a:r>
              <a:rPr lang="en" sz="133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aes(x = distance, y = price)</a:t>
            </a:r>
            <a:r>
              <a:rPr lang="en" sz="1338">
                <a:solidFill>
                  <a:schemeClr val="dk1"/>
                </a:solidFill>
              </a:rPr>
              <a:t> maps </a:t>
            </a:r>
            <a:r>
              <a:rPr lang="en" sz="133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distance</a:t>
            </a:r>
            <a:r>
              <a:rPr lang="en" sz="1338">
                <a:solidFill>
                  <a:schemeClr val="dk1"/>
                </a:solidFill>
              </a:rPr>
              <a:t> to the x-axis and </a:t>
            </a:r>
            <a:r>
              <a:rPr lang="en" sz="133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 sz="1338">
                <a:solidFill>
                  <a:schemeClr val="dk1"/>
                </a:solidFill>
              </a:rPr>
              <a:t> to the y-axis.</a:t>
            </a:r>
            <a:br>
              <a:rPr lang="en" sz="1338">
                <a:solidFill>
                  <a:schemeClr val="dk1"/>
                </a:solidFill>
              </a:rPr>
            </a:br>
            <a:r>
              <a:rPr lang="en" sz="1338">
                <a:solidFill>
                  <a:schemeClr val="dk1"/>
                </a:solidFill>
              </a:rPr>
              <a:t>E. This code produces a scatterplot showing the relationship between two numeric variables.</a:t>
            </a:r>
            <a:endParaRPr sz="133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50"/>
              <a:buNone/>
            </a:pPr>
            <a:r>
              <a:t/>
            </a:r>
            <a:endParaRPr sz="40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93" name="Google Shape;93;p18" title="90 Second Countdown Timer / NO S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1522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