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 Mon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Mono-bold.fntdata"/><Relationship Id="rId12" Type="http://schemas.openxmlformats.org/officeDocument/2006/relationships/font" Target="fonts/RobotoMon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boldItalic.fntdata"/><Relationship Id="rId14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www.youtube.com/watch?v=zN2iHbFFcE8" TargetMode="External"/><Relationship Id="rId4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www.youtube.com/watch?v=zN2iHbFFcE8" TargetMode="External"/><Relationship Id="rId4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www.youtube.com/watch?v=zN2iHbFFcE8" TargetMode="External"/><Relationship Id="rId4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www.youtube.com/watch?v=zN2iHbFFcE8" TargetMode="External"/><Relationship Id="rId4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www.youtube.com/watch?v=zN2iHbFFcE8" TargetMode="Externa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Week 4 Quiz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CMCE 10002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Semester 1, 2026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7517975" y="4354450"/>
            <a:ext cx="164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869425" y="4135250"/>
            <a:ext cx="692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1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Question 1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8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2675"/>
              <a:buFont typeface="Arial"/>
              <a:buNone/>
            </a:pPr>
            <a:r>
              <a:rPr lang="en" sz="2578">
                <a:solidFill>
                  <a:schemeClr val="dk1"/>
                </a:solidFill>
              </a:rPr>
              <a:t>A student writes the code below:</a:t>
            </a:r>
            <a:endParaRPr sz="257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2675"/>
              <a:buFont typeface="Arial"/>
              <a:buNone/>
            </a:pPr>
            <a:r>
              <a:rPr lang="en" sz="2578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ggplot(housing, aes(x = price))</a:t>
            </a:r>
            <a:endParaRPr sz="2578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2675"/>
              <a:buFont typeface="Arial"/>
              <a:buNone/>
            </a:pPr>
            <a:r>
              <a:rPr lang="en" sz="2578">
                <a:solidFill>
                  <a:schemeClr val="dk1"/>
                </a:solidFill>
              </a:rPr>
              <a:t>They say it will produce a histogram of property prices.</a:t>
            </a:r>
            <a:endParaRPr sz="257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2675"/>
              <a:buFont typeface="Arial"/>
              <a:buNone/>
            </a:pPr>
            <a:r>
              <a:t/>
            </a:r>
            <a:endParaRPr sz="257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2675"/>
              <a:buFont typeface="Arial"/>
              <a:buNone/>
            </a:pPr>
            <a:r>
              <a:rPr lang="en" sz="2578">
                <a:solidFill>
                  <a:schemeClr val="dk1"/>
                </a:solidFill>
              </a:rPr>
              <a:t>What is the main problem with this claim?</a:t>
            </a:r>
            <a:endParaRPr sz="257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2675"/>
              <a:buFont typeface="Arial"/>
              <a:buNone/>
            </a:pPr>
            <a:r>
              <a:rPr lang="en" sz="2578">
                <a:solidFill>
                  <a:schemeClr val="dk1"/>
                </a:solidFill>
              </a:rPr>
              <a:t>A. The code is missing a </a:t>
            </a:r>
            <a:r>
              <a:rPr lang="en" sz="2578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geom_histogram()</a:t>
            </a:r>
            <a:r>
              <a:rPr lang="en" sz="2578">
                <a:solidFill>
                  <a:schemeClr val="dk1"/>
                </a:solidFill>
              </a:rPr>
              <a:t> layer.</a:t>
            </a:r>
            <a:br>
              <a:rPr lang="en" sz="2578">
                <a:solidFill>
                  <a:schemeClr val="dk1"/>
                </a:solidFill>
              </a:rPr>
            </a:br>
            <a:r>
              <a:rPr lang="en" sz="2578">
                <a:solidFill>
                  <a:schemeClr val="dk1"/>
                </a:solidFill>
              </a:rPr>
              <a:t>B. The variable </a:t>
            </a:r>
            <a:r>
              <a:rPr lang="en" sz="2578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price</a:t>
            </a:r>
            <a:r>
              <a:rPr lang="en" sz="2578">
                <a:solidFill>
                  <a:schemeClr val="dk1"/>
                </a:solidFill>
              </a:rPr>
              <a:t> must be moved into </a:t>
            </a:r>
            <a:r>
              <a:rPr lang="en" sz="2578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labs()</a:t>
            </a:r>
            <a:r>
              <a:rPr lang="en" sz="2578">
                <a:solidFill>
                  <a:schemeClr val="dk1"/>
                </a:solidFill>
              </a:rPr>
              <a:t>.</a:t>
            </a:r>
            <a:br>
              <a:rPr lang="en" sz="2578">
                <a:solidFill>
                  <a:schemeClr val="dk1"/>
                </a:solidFill>
              </a:rPr>
            </a:br>
            <a:r>
              <a:rPr lang="en" sz="2578">
                <a:solidFill>
                  <a:schemeClr val="dk1"/>
                </a:solidFill>
              </a:rPr>
              <a:t>C. Histograms cannot be created in </a:t>
            </a:r>
            <a:r>
              <a:rPr lang="en" sz="2578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ggplot2</a:t>
            </a:r>
            <a:r>
              <a:rPr lang="en" sz="2578">
                <a:solidFill>
                  <a:schemeClr val="dk1"/>
                </a:solidFill>
              </a:rPr>
              <a:t>.</a:t>
            </a:r>
            <a:br>
              <a:rPr lang="en" sz="2578">
                <a:solidFill>
                  <a:schemeClr val="dk1"/>
                </a:solidFill>
              </a:rPr>
            </a:br>
            <a:r>
              <a:rPr lang="en" sz="2578">
                <a:solidFill>
                  <a:schemeClr val="dk1"/>
                </a:solidFill>
              </a:rPr>
              <a:t>D. The code should use </a:t>
            </a:r>
            <a:r>
              <a:rPr lang="en" sz="2578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geom_bar()</a:t>
            </a:r>
            <a:r>
              <a:rPr lang="en" sz="2578">
                <a:solidFill>
                  <a:schemeClr val="dk1"/>
                </a:solidFill>
              </a:rPr>
              <a:t> instead.</a:t>
            </a:r>
            <a:endParaRPr sz="697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125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descr="#timer #timercountdown #countdown &#10;Full HD / 1080p / 1920 x 1080 / Silent Countdown Timer for you to use as you wish!!!&#10;If you liked it, leave your like and subscribe, I will be very grateful :D&#10;&#10;&quot;We are in this life just passing through, enjoy it, don't waste time!&quot;&#10;&#10;Playlist Alarm Timer Beeps at End - https://www.youtube.com/playlist?list=PL2_3gwZjo3QRwuo7kG2QVINseiqnk6b5W&#10;&#10;Playlist Second Countdown Without Sound -  https://www.youtube.com/playlist?list=PL2_3gwZjo3QQ3aWPCegu35JGD7VLXmjgl&#10;&#10;Playlist Minute Countdown Without Sound - https://www.youtube.com/playlist?list=PL2_3gwZjo3QQbGh1NLqSxejTzgshTI-xw" id="64" name="Google Shape;64;p14" title="90 Second Countdown Timer / NO SOUND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6575" y="3959900"/>
            <a:ext cx="1835725" cy="103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Question 2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Which line of code would correctly add separate panels for each dwelling type to a histogram of </a:t>
            </a:r>
            <a:r>
              <a:rPr lang="en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price</a:t>
            </a:r>
            <a:r>
              <a:rPr lang="en" sz="2000">
                <a:solidFill>
                  <a:schemeClr val="dk1"/>
                </a:solidFill>
              </a:rPr>
              <a:t>?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A. </a:t>
            </a:r>
            <a:r>
              <a:rPr lang="en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labs(~ type)</a:t>
            </a:r>
            <a:br>
              <a:rPr lang="en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2000">
                <a:solidFill>
                  <a:schemeClr val="dk1"/>
                </a:solidFill>
              </a:rPr>
              <a:t>B. </a:t>
            </a:r>
            <a:r>
              <a:rPr lang="en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geom_point(~ type)</a:t>
            </a:r>
            <a:br>
              <a:rPr lang="en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2000">
                <a:solidFill>
                  <a:schemeClr val="dk1"/>
                </a:solidFill>
              </a:rPr>
              <a:t>C. </a:t>
            </a:r>
            <a:r>
              <a:rPr lang="en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facet_wrap(~ type)</a:t>
            </a:r>
            <a:br>
              <a:rPr lang="en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2000">
                <a:solidFill>
                  <a:schemeClr val="dk1"/>
                </a:solidFill>
              </a:rPr>
              <a:t>D. </a:t>
            </a:r>
            <a:r>
              <a:rPr lang="en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scale_x_continuous(~ type)</a:t>
            </a:r>
            <a:endParaRPr sz="2700"/>
          </a:p>
        </p:txBody>
      </p:sp>
      <p:sp>
        <p:nvSpPr>
          <p:cNvPr id="71" name="Google Shape;71;p15"/>
          <p:cNvSpPr txBox="1"/>
          <p:nvPr/>
        </p:nvSpPr>
        <p:spPr>
          <a:xfrm>
            <a:off x="6845825" y="4266775"/>
            <a:ext cx="231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#timer #timercountdown #countdown &#10;Full HD / 1080p / 1920 x 1080 / Silent Countdown Timer for you to use as you wish!!!&#10;If you liked it, leave your like and subscribe, I will be very grateful :D&#10;&#10;&quot;We are in this life just passing through, enjoy it, don't waste time!&quot;&#10;&#10;Playlist Alarm Timer Beeps at End - https://www.youtube.com/playlist?list=PL2_3gwZjo3QRwuo7kG2QVINseiqnk6b5W&#10;&#10;Playlist Second Countdown Without Sound -  https://www.youtube.com/playlist?list=PL2_3gwZjo3QQ3aWPCegu35JGD7VLXmjgl&#10;&#10;Playlist Minute Countdown Without Sound - https://www.youtube.com/playlist?list=PL2_3gwZjo3QQbGh1NLqSxejTzgshTI-xw" id="72" name="Google Shape;72;p15" title="90 Second Countdown Timer / NO SOUND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6575" y="3959900"/>
            <a:ext cx="1835725" cy="103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Question 3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 student wants to make a scatterplot of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distance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price</a:t>
            </a:r>
            <a:r>
              <a:rPr lang="en">
                <a:solidFill>
                  <a:schemeClr val="dk1"/>
                </a:solidFill>
              </a:rPr>
              <a:t>, but writes: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ggplot(housing, 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aes(x = distance, y = price)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+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geom_scatter()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What is the main problem with this code?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A. Scatterplots cannot display two numeric variables.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B.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geom_scatter()</a:t>
            </a:r>
            <a:r>
              <a:rPr lang="en">
                <a:solidFill>
                  <a:schemeClr val="dk1"/>
                </a:solidFill>
              </a:rPr>
              <a:t> is not a valid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ggplot2</a:t>
            </a:r>
            <a:r>
              <a:rPr lang="en">
                <a:solidFill>
                  <a:schemeClr val="dk1"/>
                </a:solidFill>
              </a:rPr>
              <a:t> function.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C. The code should use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geom_bar()</a:t>
            </a:r>
            <a:r>
              <a:rPr lang="en">
                <a:solidFill>
                  <a:schemeClr val="dk1"/>
                </a:solidFill>
              </a:rPr>
              <a:t> for numeric variables.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D.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distance</a:t>
            </a:r>
            <a:r>
              <a:rPr lang="en">
                <a:solidFill>
                  <a:schemeClr val="dk1"/>
                </a:solidFill>
              </a:rPr>
              <a:t> must be placed inside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labs()</a:t>
            </a:r>
            <a:r>
              <a:rPr lang="en">
                <a:solidFill>
                  <a:schemeClr val="dk1"/>
                </a:solidFill>
              </a:rPr>
              <a:t>.</a:t>
            </a:r>
            <a:endParaRPr sz="2300">
              <a:solidFill>
                <a:schemeClr val="dk1"/>
              </a:solidFill>
            </a:endParaRPr>
          </a:p>
        </p:txBody>
      </p:sp>
      <p:pic>
        <p:nvPicPr>
          <p:cNvPr descr="#timer #timercountdown #countdown &#10;Full HD / 1080p / 1920 x 1080 / Silent Countdown Timer for you to use as you wish!!!&#10;If you liked it, leave your like and subscribe, I will be very grateful :D&#10;&#10;&quot;We are in this life just passing through, enjoy it, don't waste time!&quot;&#10;&#10;Playlist Alarm Timer Beeps at End - https://www.youtube.com/playlist?list=PL2_3gwZjo3QRwuo7kG2QVINseiqnk6b5W&#10;&#10;Playlist Second Countdown Without Sound -  https://www.youtube.com/playlist?list=PL2_3gwZjo3QQ3aWPCegu35JGD7VLXmjgl&#10;&#10;Playlist Minute Countdown Without Sound - https://www.youtube.com/playlist?list=PL2_3gwZjo3QQbGh1NLqSxejTzgshTI-xw" id="79" name="Google Shape;79;p16" title="90 Second Countdown Timer / NO SOUND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6575" y="3959900"/>
            <a:ext cx="1835725" cy="103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Question 4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Consider the code below: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ggplot(housing, 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aes(x = distance, y = price)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+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geom_point(alpha = 0.05) +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geom_smooth(method = "lm", se = FALSE)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What is the best interpretation of this plot?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A. It shows the number of listings in each region.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B. It shows the distribution of prices across dwelling types.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C. It shows the relationship between distance and price, with a straight summary line added.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D. It shows separate bar plots for each value of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distance</a:t>
            </a:r>
            <a:r>
              <a:rPr lang="en" sz="1600">
                <a:solidFill>
                  <a:schemeClr val="dk1"/>
                </a:solidFill>
              </a:rPr>
              <a:t>.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descr="#timer #timercountdown #countdown &#10;Full HD / 1080p / 1920 x 1080 / Silent Countdown Timer for you to use as you wish!!!&#10;If you liked it, leave your like and subscribe, I will be very grateful :D&#10;&#10;&quot;We are in this life just passing through, enjoy it, don't waste time!&quot;&#10;&#10;Playlist Alarm Timer Beeps at End - https://www.youtube.com/playlist?list=PL2_3gwZjo3QRwuo7kG2QVINseiqnk6b5W&#10;&#10;Playlist Second Countdown Without Sound -  https://www.youtube.com/playlist?list=PL2_3gwZjo3QQ3aWPCegu35JGD7VLXmjgl&#10;&#10;Playlist Minute Countdown Without Sound - https://www.youtube.com/playlist?list=PL2_3gwZjo3QQbGh1NLqSxejTzgshTI-xw" id="86" name="Google Shape;86;p17" title="90 Second Countdown Timer / NO SOUND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52875" y="264550"/>
            <a:ext cx="1835725" cy="103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Question 5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Consider the code below: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ggplot(housing, aes(x = regionname)) +</a:t>
            </a:r>
            <a:endParaRPr sz="1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geom_bar() +</a:t>
            </a:r>
            <a:endParaRPr sz="1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labs(</a:t>
            </a:r>
            <a:endParaRPr sz="1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	        x = "Region",</a:t>
            </a:r>
            <a:endParaRPr sz="1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	        y = "Count",</a:t>
            </a:r>
            <a:endParaRPr sz="1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	        title = "Number of Listings by Region"</a:t>
            </a:r>
            <a:endParaRPr sz="1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Which of the following statements are correct? </a:t>
            </a:r>
            <a:r>
              <a:rPr b="1" lang="en" sz="1300">
                <a:solidFill>
                  <a:schemeClr val="dk1"/>
                </a:solidFill>
              </a:rPr>
              <a:t>Select all that apply.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A.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ggplot(housing, aes(x = regionname))</a:t>
            </a:r>
            <a:r>
              <a:rPr lang="en" sz="1300">
                <a:solidFill>
                  <a:schemeClr val="dk1"/>
                </a:solidFill>
              </a:rPr>
              <a:t> sets the dataset and maps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regionname</a:t>
            </a:r>
            <a:r>
              <a:rPr lang="en" sz="1300">
                <a:solidFill>
                  <a:schemeClr val="dk1"/>
                </a:solidFill>
              </a:rPr>
              <a:t> to the x-axis.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 B.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geom_bar()</a:t>
            </a:r>
            <a:r>
              <a:rPr lang="en" sz="1300">
                <a:solidFill>
                  <a:schemeClr val="dk1"/>
                </a:solidFill>
              </a:rPr>
              <a:t> draws bars showing the count in each category of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regionname</a:t>
            </a:r>
            <a:r>
              <a:rPr lang="en" sz="1300">
                <a:solidFill>
                  <a:schemeClr val="dk1"/>
                </a:solidFill>
              </a:rPr>
              <a:t>.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 C.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labs(...)</a:t>
            </a:r>
            <a:r>
              <a:rPr lang="en" sz="1300">
                <a:solidFill>
                  <a:schemeClr val="dk1"/>
                </a:solidFill>
              </a:rPr>
              <a:t> changes the labels shown on the plot.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 D. The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n" sz="1300">
                <a:solidFill>
                  <a:schemeClr val="dk1"/>
                </a:solidFill>
              </a:rPr>
              <a:t> operator adds new layers or components to the plot.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 E.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labs(...)</a:t>
            </a:r>
            <a:r>
              <a:rPr lang="en" sz="1300">
                <a:solidFill>
                  <a:schemeClr val="dk1"/>
                </a:solidFill>
              </a:rPr>
              <a:t> determines how many bars are shown in the plot.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#timer #timercountdown #countdown &#10;Full HD / 1080p / 1920 x 1080 / Silent Countdown Timer for you to use as you wish!!!&#10;If you liked it, leave your like and subscribe, I will be very grateful :D&#10;&#10;&quot;We are in this life just passing through, enjoy it, don't waste time!&quot;&#10;&#10;Playlist Alarm Timer Beeps at End - https://www.youtube.com/playlist?list=PL2_3gwZjo3QRwuo7kG2QVINseiqnk6b5W&#10;&#10;Playlist Second Countdown Without Sound -  https://www.youtube.com/playlist?list=PL2_3gwZjo3QQ3aWPCegu35JGD7VLXmjgl&#10;&#10;Playlist Minute Countdown Without Sound - https://www.youtube.com/playlist?list=PL2_3gwZjo3QQbGh1NLqSxejTzgshTI-xw" id="93" name="Google Shape;93;p18" title="90 Second Countdown Timer / NO SOUND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6575" y="3959900"/>
            <a:ext cx="1835725" cy="103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